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c755f7d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c755f7d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c755f7d4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c755f7d4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755f7d4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c755f7d4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c755f7d4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c755f7d4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c755f7d4b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c755f7d4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c755f7d4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c755f7d4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c755f7d4b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c755f7d4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755f7d4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c755f7d4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c755f7d4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c755f7d4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755f7d4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755f7d4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asp.net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50" y="571250"/>
            <a:ext cx="91440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МОСКОВСКИЙ ГОСУДАРСТВЕННЫЙ ТЕХНИЧЕСКИЙ УНИВЕРСИТЕТ ИМЕНИ Н.Э.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БАУМАНА (НАЦИОНАЛЬНЫЙ ИССЛЕДОВАТЕЛЬСКИЙ УНИВЕРСИТЕТ)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2247750"/>
            <a:ext cx="9144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«Р</a:t>
            </a:r>
            <a:r>
              <a:rPr lang="ru" sz="1600"/>
              <a:t>азработка базы данных для масштабируемого планирования и сохранения маршрутов в метрополитенах</a:t>
            </a:r>
            <a:r>
              <a:rPr lang="ru" sz="1600"/>
              <a:t>»</a:t>
            </a:r>
            <a:endParaRPr sz="1600"/>
          </a:p>
        </p:txBody>
      </p:sp>
      <p:sp>
        <p:nvSpPr>
          <p:cNvPr id="57" name="Google Shape;57;p13"/>
          <p:cNvSpPr txBox="1"/>
          <p:nvPr/>
        </p:nvSpPr>
        <p:spPr>
          <a:xfrm>
            <a:off x="-50" y="3253750"/>
            <a:ext cx="91440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Студент</a:t>
            </a:r>
            <a:r>
              <a:rPr lang="ru"/>
              <a:t>: Зевахин Михаил Евгеньевич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Группы</a:t>
            </a:r>
            <a:r>
              <a:rPr lang="ru">
                <a:solidFill>
                  <a:schemeClr val="dk1"/>
                </a:solidFill>
              </a:rPr>
              <a:t>: ИУ7-65Б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>
                <a:solidFill>
                  <a:schemeClr val="dk1"/>
                </a:solidFill>
              </a:rPr>
              <a:t>Руководитель</a:t>
            </a:r>
            <a:r>
              <a:rPr lang="ru">
                <a:solidFill>
                  <a:schemeClr val="dk1"/>
                </a:solidFill>
              </a:rPr>
              <a:t>: Кузнецова Ольга Владимировна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Цель и задачи</a:t>
            </a:r>
            <a:endParaRPr sz="242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E1E1E"/>
                </a:solidFill>
              </a:rPr>
              <a:t>Цель – разработка базы данных для масштабируемого планирования и сохранения маршрутов в метрополитенах.</a:t>
            </a:r>
            <a:endParaRPr sz="16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1E1E1E"/>
                </a:solidFill>
              </a:rPr>
              <a:t>Задачи:</a:t>
            </a:r>
            <a:endParaRPr sz="1600">
              <a:solidFill>
                <a:srgbClr val="1E1E1E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ts val="16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провести анализ существующих решений;</a:t>
            </a:r>
            <a:endParaRPr sz="1600">
              <a:solidFill>
                <a:srgbClr val="1E1E1E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формализовать данные;</a:t>
            </a:r>
            <a:endParaRPr sz="1600">
              <a:solidFill>
                <a:srgbClr val="1E1E1E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спроектировать</a:t>
            </a:r>
            <a:r>
              <a:rPr lang="ru" sz="1600">
                <a:solidFill>
                  <a:srgbClr val="1E1E1E"/>
                </a:solidFill>
              </a:rPr>
              <a:t> схему базы данных и ограничения целостности и </a:t>
            </a:r>
            <a:r>
              <a:rPr lang="ru" sz="1600">
                <a:solidFill>
                  <a:srgbClr val="1E1E1E"/>
                </a:solidFill>
              </a:rPr>
              <a:t>ролевую модель на уровне базы данных;</a:t>
            </a:r>
            <a:endParaRPr sz="1600">
              <a:solidFill>
                <a:srgbClr val="1E1E1E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провести исследование зависимости времени выполнения запроса при наличии индекса в базе данных и без него и на объем используемого дискового пространства при наличии индекса в базе данных и без него.</a:t>
            </a:r>
            <a:endParaRPr sz="16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1E1E1E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2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Ролевая модель</a:t>
            </a:r>
            <a:endParaRPr sz="242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2035050"/>
            <a:ext cx="3529500" cy="10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Поддерживаемые роли: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ru">
                <a:solidFill>
                  <a:schemeClr val="dk1"/>
                </a:solidFill>
              </a:rPr>
              <a:t>Не авторизированный пользователь;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ru">
                <a:solidFill>
                  <a:schemeClr val="dk1"/>
                </a:solidFill>
              </a:rPr>
              <a:t>Авторизованный</a:t>
            </a:r>
            <a:r>
              <a:rPr lang="ru">
                <a:solidFill>
                  <a:schemeClr val="dk1"/>
                </a:solidFill>
              </a:rPr>
              <a:t> пользователь;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ru">
                <a:solidFill>
                  <a:schemeClr val="dk1"/>
                </a:solidFill>
              </a:rPr>
              <a:t>Дежурный.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" name="Google Shape;71;p15" title="use-c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600" y="1170125"/>
            <a:ext cx="4857452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3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Диаграмма сущность-связь в нотации Чена</a:t>
            </a:r>
            <a:endParaRPr sz="2420"/>
          </a:p>
        </p:txBody>
      </p:sp>
      <p:pic>
        <p:nvPicPr>
          <p:cNvPr id="78" name="Google Shape;78;p16" title="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725" y="1017725"/>
            <a:ext cx="7438556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4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Диаграмма базы данных</a:t>
            </a:r>
            <a:endParaRPr sz="2420"/>
          </a:p>
        </p:txBody>
      </p:sp>
      <p:pic>
        <p:nvPicPr>
          <p:cNvPr id="85" name="Google Shape;85;p17" title="Entit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163" y="1017725"/>
            <a:ext cx="350566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5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Схемы триггеров (часть 1)</a:t>
            </a:r>
            <a:endParaRPr sz="2420"/>
          </a:p>
        </p:txBody>
      </p:sp>
      <p:pic>
        <p:nvPicPr>
          <p:cNvPr id="92" name="Google Shape;92;p18" title="ck_tr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625" y="1017725"/>
            <a:ext cx="6798746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6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Схемы триггеров (часть 2)</a:t>
            </a:r>
            <a:endParaRPr sz="2420"/>
          </a:p>
        </p:txBody>
      </p:sp>
      <p:sp>
        <p:nvSpPr>
          <p:cNvPr id="99" name="Google Shape;99;p19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7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00" name="Google Shape;100;p19" title="del_tr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425" y="1170125"/>
            <a:ext cx="7907139" cy="3389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420"/>
              <a:t>Средства реализации</a:t>
            </a:r>
            <a:endParaRPr sz="242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●"/>
            </a:pPr>
            <a:r>
              <a:rPr lang="ru">
                <a:solidFill>
                  <a:srgbClr val="1E1E1E"/>
                </a:solidFill>
              </a:rPr>
              <a:t>C# – язык программирования;</a:t>
            </a:r>
            <a:endParaRPr>
              <a:solidFill>
                <a:srgbClr val="1E1E1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●"/>
            </a:pPr>
            <a:r>
              <a:rPr lang="ru">
                <a:solidFill>
                  <a:srgbClr val="1E1E1E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ASP.N</a:t>
            </a:r>
            <a:r>
              <a:rPr lang="ru">
                <a:solidFill>
                  <a:srgbClr val="1E1E1E"/>
                </a:solidFill>
              </a:rPr>
              <a:t>ЕT</a:t>
            </a:r>
            <a:r>
              <a:rPr lang="ru">
                <a:solidFill>
                  <a:srgbClr val="1E1E1E"/>
                </a:solidFill>
              </a:rPr>
              <a:t> Core – фреймворк для создания веб-приложений на платформе;</a:t>
            </a:r>
            <a:endParaRPr>
              <a:solidFill>
                <a:srgbClr val="1E1E1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●"/>
            </a:pPr>
            <a:r>
              <a:rPr lang="ru">
                <a:solidFill>
                  <a:srgbClr val="1E1E1E"/>
                </a:solidFill>
              </a:rPr>
              <a:t>EF Core – фреймворк объектно-реляционного отображения (ORM) для приложений;</a:t>
            </a:r>
            <a:endParaRPr>
              <a:solidFill>
                <a:srgbClr val="1E1E1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●"/>
            </a:pPr>
            <a:r>
              <a:rPr lang="ru">
                <a:solidFill>
                  <a:srgbClr val="1E1E1E"/>
                </a:solidFill>
              </a:rPr>
              <a:t>PostgreSQL – реляционная СУБД;</a:t>
            </a:r>
            <a:endParaRPr>
              <a:solidFill>
                <a:srgbClr val="1E1E1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●"/>
            </a:pPr>
            <a:r>
              <a:rPr lang="ru">
                <a:solidFill>
                  <a:srgbClr val="1E1E1E"/>
                </a:solidFill>
              </a:rPr>
              <a:t>Bash – командный язык;</a:t>
            </a:r>
            <a:endParaRPr>
              <a:solidFill>
                <a:srgbClr val="1E1E1E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Char char="●"/>
            </a:pPr>
            <a:r>
              <a:rPr lang="ru">
                <a:solidFill>
                  <a:srgbClr val="1E1E1E"/>
                </a:solidFill>
              </a:rPr>
              <a:t>Python – высокоуровневый, интерпретируемый язык программирования.</a:t>
            </a:r>
            <a:endParaRPr>
              <a:solidFill>
                <a:srgbClr val="1E1E1E"/>
              </a:solidFill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8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7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420"/>
              <a:t>Анализ зависимости времени выполнения запроса от </a:t>
            </a:r>
            <a:endParaRPr sz="2420"/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420"/>
              <a:t>использования индекса</a:t>
            </a:r>
            <a:endParaRPr sz="2420"/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113" name="Google Shape;113;p21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9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14" name="Google Shape;114;p21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54150"/>
            <a:ext cx="5872325" cy="295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5773425" y="1619925"/>
            <a:ext cx="3058800" cy="25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При максимальном количестве записей (1000) время выполнения запроса с использованием индексов уменьшилось более чем в 7 раз.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420"/>
              <a:t>Анализ объема занимаемого данными</a:t>
            </a:r>
            <a:endParaRPr sz="2420"/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420"/>
              <a:t>дискового пространства в зависимости от</a:t>
            </a:r>
            <a:endParaRPr sz="2420"/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2420"/>
              <a:t>использования индекса</a:t>
            </a:r>
            <a:endParaRPr sz="2420"/>
          </a:p>
          <a:p>
            <a:pPr indent="0" lvl="0" marL="0" rtl="0" algn="ctr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t/>
            </a:r>
            <a:endParaRPr sz="2420"/>
          </a:p>
        </p:txBody>
      </p:sp>
      <p:sp>
        <p:nvSpPr>
          <p:cNvPr id="121" name="Google Shape;121;p22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10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22" name="Google Shape;122;p22" title="Figure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01325"/>
            <a:ext cx="5798650" cy="29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5773425" y="1619925"/>
            <a:ext cx="3058800" cy="25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Занимаемое дисковое пространство увеличилось примерно на 25%.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00000"/>
                </a:solidFill>
              </a:rPr>
              <a:t>Поставленная цель была достигнута: </a:t>
            </a:r>
            <a:r>
              <a:rPr lang="ru" sz="1600">
                <a:solidFill>
                  <a:srgbClr val="000000"/>
                </a:solidFill>
              </a:rPr>
              <a:t>разработана базы данных для масштабируемого планирования и сохранения маршрутов в метрополитенах.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ru" sz="1600">
                <a:solidFill>
                  <a:srgbClr val="000000"/>
                </a:solidFill>
              </a:rPr>
              <a:t>Все поставленные задачи были решены:</a:t>
            </a:r>
            <a:endParaRPr sz="1600">
              <a:solidFill>
                <a:srgbClr val="000000"/>
              </a:solidFill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rgbClr val="1E1E1E"/>
              </a:buClr>
              <a:buSzPct val="1000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проведен анализ существующих решений;</a:t>
            </a:r>
            <a:endParaRPr sz="1600">
              <a:solidFill>
                <a:srgbClr val="1E1E1E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ct val="1000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формализованы данные;</a:t>
            </a:r>
            <a:endParaRPr sz="1600">
              <a:solidFill>
                <a:srgbClr val="1E1E1E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ct val="1000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спроектирована схема базы данных и ограничения целостности и ролевая модель на уровне базы данных;</a:t>
            </a:r>
            <a:endParaRPr sz="1600">
              <a:solidFill>
                <a:srgbClr val="1E1E1E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ct val="100000"/>
              <a:buAutoNum type="arabicPeriod"/>
            </a:pPr>
            <a:r>
              <a:rPr lang="ru" sz="1600">
                <a:solidFill>
                  <a:srgbClr val="1E1E1E"/>
                </a:solidFill>
              </a:rPr>
              <a:t>проведено исследование зависимости времени выполнения запроса при наличии индекса в базе данных и без него и объема используемого дискового пространства при наличии индекса в базе данных и без него.</a:t>
            </a:r>
            <a:endParaRPr sz="1600">
              <a:solidFill>
                <a:srgbClr val="1E1E1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8568300" y="4712400"/>
            <a:ext cx="57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2"/>
                </a:solidFill>
              </a:rPr>
              <a:t>11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